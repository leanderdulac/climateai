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6035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MUNICÍPIO, ÁGUA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A MATEMÁTICA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JÁ EXISTE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  ·  por que cada modelo  ·  CEDAE e Defesa Civil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051560"/>
            <a:ext cx="1554480" cy="1554480"/>
          </a:xfrm>
          <a:prstGeom prst="ellipse">
            <a:avLst/>
          </a:prstGeom>
          <a:solidFill>
            <a:srgbClr val="152E4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325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813816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evolução de produto  ·  agosto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LER ESTA APRESENTAÇÃO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38912" cy="43891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822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1704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Siglas, grandezas e nomes matemáticos. Sem isso, LSTM e GEV viram jargão.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38912" cy="43891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Família de modelos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1305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único modelo para chuva, seca e drenagem. Cada pergunta exige um instrumento.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38912" cy="43891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743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090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motor: o que é, a situação (prefeitura ou CEDAE) e por que ele — e não o vizinho.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438912" cy="43891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703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Fatos e fontes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0507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oficiais do Guandu, Alerta Rio, ANA e INMET. O que acoplar, sem inventar dado.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DUAS PERGUNTAS, O MESMO CLIMA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069080" cy="3840480"/>
          </a:xfrm>
          <a:prstGeom prst="rect">
            <a:avLst/>
          </a:prstGeom>
          <a:solidFill>
            <a:srgbClr val="F5F6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875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9875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Prefeitura / Defesa Civil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onde e quando o extremo atinge gente e via?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Alagamento e enchente urbana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Deslizamento em encosta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de calor e saúde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Estiagem e comunicação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Drenagem (chuva de 10–100 anos)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09160" y="822960"/>
            <a:ext cx="4069080" cy="384048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8755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0952" y="9875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CEDAE / saneamento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92040" y="14173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o manancial e a ETA aguentam o clima desta semana e desta estação?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2148840"/>
            <a:ext cx="3703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vs. estiagem no Guandu / Paraíba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Tratabilidade (turbidez, odor) após extremo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esgoto em chuva forte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sazonal (3–9 meses)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de ETA e adutora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1 — INSTITUIÇÕES E SISTEMAS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977640"/>
                <a:gridCol w="25603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nesta conversa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CEDAE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Companhia Estadual de Águas e Esgotos do RJ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Produz água; não distribui sozinha após a concessão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Estação de Tratamento de Água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do Guandu é a maior em volume do mundo (~45 m³/s)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/ SAR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Agência Nacional de Águas / Sistema de Acompanhamento de Reservatórios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Cota e volume útil diários (Funil, Paraibuna…)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CEIVAP / INEA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Comitê da bacia do Paraíba do Sul / Instituto Estadual do Ambiente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Outorga e regras da transposição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Operadora da transposição Paraíba → Guandu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bombeia em Santa Cecília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Instituto Nacional de Meteorologia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 de seca e estações oficiais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CEMADEN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Nacional de Monitoramento e Alertas de Desastres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técnico à Defesa Civil — não à população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 / GEO-RIO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Operações Rio / fundação geotécnica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Rio, sirenes, estágios 1–5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Operating Procedure — procedimento padrão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 quando o limiar estoura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2 — GRANDEZAS E NOMENCLATURA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977640"/>
                <a:gridCol w="25603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mede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 / mm/h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Chuva: milímetros (lâmina) e milímetros por hora (intensidade)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Rio: fraca &lt;5, moderada 5–25, forte 25–50, muito forte &gt;50 mm/h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m³/s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Vazão — metros cúbicos por segundo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Guandu outorgada em 45 m³/s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útil (VU)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Água armazenada entre o mínimo e o máximo operativos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 Paraíba: 33% em jan/2026 (ANA)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Outorga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Direito de usar uma vazão, dado pelo órgão ambiental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Teto legal da captação, não a produção do 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 (turbidez)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de turbidez (equivalente a NTU)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Portaria 888: 0,5 uT na filtração; 5 uT na rede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 d’água de onde se capta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Guandu = Lajes + transposição do Paraíba do Sul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PMSB / PDDU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municipal de saneamento / plano diretor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Pedem chuva de 10, 50, 100 anos — período de retorno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Telefone da Defesa Civil (Anatel 357/2004)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é o nome de um protocolo; o SOP local é outro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Alerta e Alarme Comunitário (sirenes)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 com 40 mm em 1 h ou 125 mm em 24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3 — MATEMÁTICA DE PREVISÃO E CAUDA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97764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uma frase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serve para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que lê uma sequência de dias e prevê o próximo 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Dimensionar drenagem de 50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α_t que diz quais dias do passado importam mais para o 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Substituir o pluviômetro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de resíduos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Sorteia o erro real do LSTM; gera uma faixa, não um milímetro único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 série de clima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 dos máximos de bloco (ex.: máximo anual de chuva)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Prever a chuva de amanhã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 de retorno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Chuva que, em média, é igualada ou excedida a cada T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Garantir que não chova esse valor em T anos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GPD / 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 dos picos acima de um limiar u (Peaks Over Threshold)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de estiagem de 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 / P90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e 90% da distribuição simulada — banda de incerteza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único número para o gabinete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4 — REGIME, SECA, ESPAÇO E GATILHO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977640"/>
                <a:gridCol w="25603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uma frase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serve para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Estados ocultos (úmido / seco / árido) que mudam com o tempo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 de 6 horas de alagamento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ENSO / ONI / RONI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Oscilação do Pacífico; ONI e RONI são os índices da NOAA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Operar a ETA na próxima hora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Chuva padronizada (WMO). SPI-3 = trimestre; SPI-12 = ano hidrológico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Intensidade de chuva em 15 minutos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 + evapotranspiração — a seca também aquece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Substituir o volume útil do Funil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Densidade espacial suave (onde o risco se concentra no mapa)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cota de reservatório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 pontos próximos sem fixar o número de grupos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de vazão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físico = p·λ·v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 × frequência × vulnerabilidade do 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da água (uT)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Gatilho paramétrico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valor observado ≥ limiar, dispara o SOP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 o período de retorno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Cópula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Dependência entre extremos de duas bacias ao mesmo tempo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único pluviômetro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NÃO EXISTE UM ÚNICO MODELO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pergunta operacional vive numa escala de tempo e num objeto diferente. O motor certo é o que responde aquela pergunta — não o mais sofisticado.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743200" cy="1508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4447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68249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Chove acima de 40 mm nesta hora?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06654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gatilho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34086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recente + limiar já usado pelas sirenes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743200" cy="1508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4447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68249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ETA vai perder tratabilidade amanhã?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206654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/ GPD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234086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evento é um pico acima do limiar, não a média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743200" cy="1508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4447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168249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Entramos em estiagem?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206654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+ SPI/SPEI + ENSO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234086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 é regime, não um dia isolado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2743200" cy="1508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0906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332841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chuva de 50 anos para a drenagem?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" y="37124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398678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pede período de retorno, não previsão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017520"/>
            <a:ext cx="2743200" cy="1508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9" name="Text 27"/>
          <p:cNvSpPr/>
          <p:nvPr/>
        </p:nvSpPr>
        <p:spPr>
          <a:xfrm>
            <a:off x="3355848" y="30906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Espaço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5848" y="332841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bairro ou setor de rede?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55848" y="37124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+ DBSCAN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55848" y="398678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é geográfica; o ponto único mente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3017520"/>
            <a:ext cx="2743200" cy="1508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30906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36208" y="332841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ETA ou a escola quebra?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36208" y="37124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p·λ·v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36208" y="398678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chuva, vulnerabilidades diferentes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— LSTM COM ATENÇÃO  +  BOOTSTRAP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49808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é.  LSTM (Long Short-Term Memory) é uma rede recorrente: lê x_t = [temperatura, chuva, pressão, vento, ENSO] dia a dia. A atenção calcula α_t = softmax(vᵀ tanh(W_h h_t + W_c c_t)) e a previsão é ŷ = Σ α_t · h_t — uma média ponderada do passado relevante, não de todos os dias iguais.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4114800" cy="26974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901952"/>
            <a:ext cx="73152" cy="2697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9751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249424"/>
            <a:ext cx="38587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Civil precisa de 6–48 h: vai chover o bastante para alagar? A ETA precisa do mesmo horizonte: a captação de amanhã vem mais suja?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ClimateWise já treina isso no arquivo Open-Meteo, sem série sintética. O bootstrap sorteia os resíduos reais do ajuste e devolve uma faixa (não um milímetro teatral).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901952"/>
            <a:ext cx="4114800" cy="26974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901952"/>
            <a:ext cx="73152" cy="2697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9751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este — e não GEV ou HMM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249424"/>
            <a:ext cx="38587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 responde “chuva de 50 anos”: é projeto, não amanhã.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responde “estamos secos neste trimestre”: é regime, não a próxima hora.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LSTM é adequada porque a pergunta é de sequência curta com as mesmas variáveis que a estação já mede. A atenção evita tratar um dia de 2019 igual ao de ontem.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— GEV, GPD E POT (TEORIA DE VALORES EXTREMOS)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49808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é.  A teoria de valores extremos descreve a cauda, não a média. GEV ajusta máximos de bloco (ex.: o maior dia de cada ano) com parâmetros μ (posição), σ (escala) e ξ (forma). GPD / POT (Peaks Over Threshold) ajusta só o que passa de um limiar u — aproveita mais eventos do que um máximo por ano. O período de retorno T é o nível que, em média, é excedido a cada T anos.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4114800" cy="2651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938528"/>
            <a:ext cx="73152" cy="2651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116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286000"/>
            <a:ext cx="38587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Prefeitura: o PMSB e o PDDU pedem a chuva de 10, 25, 50 e 100 anos para galeria e zona de risco.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CEDAE: a ETA não para pela média do mês; para (ou reduz, como em out/2024 a 73%) quando um pico de chuva a montante piora a água bruta. Isso é POT, não média móvel.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938528"/>
            <a:ext cx="4114800" cy="2651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938528"/>
            <a:ext cx="73152" cy="2651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20116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este — e não LSTM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286000"/>
            <a:ext cx="38587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extrapola o dia seguinte; não tem o direito estatístico de falar em “50 anos”.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 é o instrumento clássico de engenharia hidráulica para período de retorno. GPD é o mais adequado ao aviso de tratabilidade porque o fenômeno é “passou do limiar”, exatamente a definição de pico sobre limiar.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— HMM DE REGIME  +  ENSO (ONI / RONI)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49808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é.  HMM (Hidden Markov Model) supõe estados que não vemos direto — no ClimateWise: úmido, seco, árido — com transições P(S_t = j | S_{t-1} = i) = A_ij(ΔT). ENSO é a oscilação El Niño / La Niña no Pacífico. ONI e RONI, da NOAA CPC, classificam o regime com persistência de cinco estações sobrepostas (DJF, JFM…).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4114800" cy="26974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901952"/>
            <a:ext cx="73152" cy="2697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9751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249424"/>
            <a:ext cx="38587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CEDAE não raciona por causa de uma tarde sem chuva. Raciona quando o equivalente Paraíba cai (33% em jan/2026) e a transposição da LIGHT aperta.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prefeitura comunica estiagem em escala de meses. 2014–15 e 2015–17 no RJ foram anos secos no SPEI-12 — regime, não episódio.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901952"/>
            <a:ext cx="4114800" cy="26974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901952"/>
            <a:ext cx="73152" cy="2697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9751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este — e não LSTM ou GEV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249424"/>
            <a:ext cx="38587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olha dias; GEV olha caudas anuais. Nenhum dos dois diz “mudamos de estado climático”.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é o instrumento de mudança de regime. ENSO é o forçante sazonal observado (não inventado) que altera a probabilidade de o Sudeste entrar no estado seco. Juntos cobrem 3–9 meses de alocação.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— ESPAÇO, ATIVO E GATILHO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88920" cy="38404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04672"/>
            <a:ext cx="2788920" cy="731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" y="987552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KDE e DBSCAN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" y="1664208"/>
            <a:ext cx="253288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que. Densidade no mapa e agrupamento de pontos de extremo.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quê. Sirene, bomba e caminhão não atuam “no município”: atuam no bairro. Um único pluviômetro é o objeto errado. DBSCAN acha o cluster sem exigir o número de grupos.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2788920" cy="38404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804672"/>
            <a:ext cx="2788920" cy="731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987552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físico = p · λ · v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28416" y="1664208"/>
            <a:ext cx="253288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que. p vem do GEV; λ é a taxa anual ajustada; v é fragilidade (idade, material, cota).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quê. A mesma chuva que alaga a via pode parar a ETA (Marapicu, fev/2026) e poupar uma escola em cota alta. Sem v, o mapa mente.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804672"/>
            <a:ext cx="2788920" cy="38404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804672"/>
            <a:ext cx="278892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987552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Gatilho paramétrico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08776" y="1664208"/>
            <a:ext cx="253288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que. Se valor ≥ limiar, dispara. Nasceu para indenização.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quê. O SOP do Rio já é isso: 40 mm/1 h ou 125 mm/24 h nas sirenes A2C2. Reciclar o motor de seguro para o protocolo que a cidade já usa — não inventar uma escala nova.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— SPI, SPEI E O RESERVATÓRIO (O DADO QUE JÁ EXISTE)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49808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é.  SPI (Standardized Precipitation Index) transforma a chuva acumulada em desvios-padrão, comparáveis entre climas. A OMM (WMO) o elegeu como índice meteorológico de seca. SPI-1 = mês; SPI-3 = trimestre agrícola; SPI-12 = ano hidrológico. SPEI acrescenta a evapotranspiração (Penman–Monteith): com o aquecimento, a mesma chuva seca mais.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4114800" cy="2651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938528"/>
            <a:ext cx="73152" cy="2651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116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286000"/>
            <a:ext cx="38587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INMET já publica mapas de SPI. ALARMES/UFRJ publica SPEI. ANA SAR já publica o volume útil de Funil, Paraibuna, Jaguari e Santa Branca.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ClimateWise ainda não lê esses índices. Não deve criar um “índice ClimateWise de seca”: deve falar a língua oficial.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938528"/>
            <a:ext cx="4114800" cy="26517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938528"/>
            <a:ext cx="73152" cy="2651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20116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SPI/SPEI + SAR — e não só HMM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286000"/>
            <a:ext cx="38587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detecta mudança de estado nos nossos dados. SPI é o vocabulário que INMET, CEMADEN e comitês de bacia já usam. SAR é a cota real do reservatório — o objeto da CEDAE.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antecipa; SPI comunica; SAR confirma. Os três juntos. Nenhum sozinho fecha o racionamento.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— GUANDU E PARAÍBA EM NÚMEROS OFICIAIS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05740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7782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1,30 bi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131673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m³ em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Guandu = 72% da produção CEDAE no Estado (1,81 bi m³)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804672"/>
            <a:ext cx="2057400" cy="1554480"/>
          </a:xfrm>
          <a:prstGeom prst="rect">
            <a:avLst/>
          </a:prstGeom>
          <a:solidFill>
            <a:srgbClr val="F5F6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87782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33472" y="131673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m³/s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59105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Outorga da ETA Guandu — cerca de 9 milhões de pessoas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804672"/>
            <a:ext cx="205740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87782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28032" y="131673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útil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59105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Paraíba em jan/2026 (ANA); 65% um ano antes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804672"/>
            <a:ext cx="2057400" cy="1554480"/>
          </a:xfrm>
          <a:prstGeom prst="rect">
            <a:avLst/>
          </a:prstGeom>
          <a:solidFill>
            <a:srgbClr val="F5F6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87782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22592" y="131673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ETA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159105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Out/2024: chuva na bacia piorou a água bruta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84124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389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o modelo deve fazer com ele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Transposição LIGHT: Guandu natural 7–25 m³/s → ~150 m³/s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ENSO + HMM + SAR: a vazão extra não é clima local; é operação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Sirenes A2C2: 40 mm/1 h ou 125 mm/24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Gatilho paramétrico = esse limiar, não uma escala nova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Portaria 888: 0,5 uT na filtração, 5 uT na rede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 de chuva a montante avisa o pico; não substitui o turbidímetro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CEMADEN alerta a Defesa Civil, não o cidadão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produto alimenta a sala de situação; o 199 e o cell broadcast são do município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SITUAÇÃO → MÓDULO → POR QUE ESTE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749808"/>
          <a:ext cx="863193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415137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é o adequado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 6–48 h de alagamento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+ atenção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de sequência curta com as variáveis da estação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mentir um milímetro só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de resíduos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o erro real do modelo; não gera clima falso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Galeria / PMSB 10–100 anos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 de retorno é definição de máximos de bloco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que suja a 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GPD / POT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fenômeno é exceder o limiar, não o máximo 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Estiagem de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HMM + SPI/SPEI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+ língua oficial do INMET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Alocação 3–9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ENSO ONI/RONI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Forçante sazonal observado pela NOAA, não um proxy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 bairro evacuar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 + DBSCAN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é espacial; o ponto único não localiza o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vs. escola na mesma chuva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p·λ·v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 perigo (p) de vulnerabilidade do ativo 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Sirene / SOP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Gatilho paramétrico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é o formato A2C2 (40 mm/1 h, 125 mm/24 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Guandu e cidade no mesmo 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Cópula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Extremos conjuntos; duas bacias não são independentes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PREFEITURA — DO LIMIAR OFICIAL AO MOTOR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9264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8046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Alerta Rio mede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111556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estações, 15 min. Intensidade oficial: &lt;5 / 5–25 / 25–50 / &gt;50 mm/h. Isso é o dado; o modelo não redefine “chuva forte”.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9384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76479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estima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07568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probabilidade de, nas próximas 6–48 h, cruzar 40 mm em 1 h ou 125 mm em 24 h — os limiares das sirenes A2C2.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7249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KDE aponta o bairro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03580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 não evacua a cidade inteira. O cluster espacial diz onde tocar a sirene e abrir ponto de apoio.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49624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6850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GEV alimenta o plano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99592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emergência: período de retorno para drenagem e PDDU. Outra pergunta, outro motor.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CEDAE — DO MANANCIAL À ETA, COM O MOTOR CERTO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206240" cy="1737360"/>
          </a:xfrm>
          <a:prstGeom prst="rect">
            <a:avLst/>
          </a:prstGeom>
          <a:solidFill>
            <a:srgbClr val="F5F6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9509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9326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Manancial (meses)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3776" y="1298448"/>
            <a:ext cx="3950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+ ENSO + SPI + SAR. Por quê: a transposição LIGHT e o equivalente Paraíba são regime hidrológico. LSTM de amanhã não decide racionamento.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822960"/>
            <a:ext cx="4206240" cy="1737360"/>
          </a:xfrm>
          <a:prstGeom prst="rect">
            <a:avLst/>
          </a:prstGeom>
          <a:solidFill>
            <a:srgbClr val="F5F6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9509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0368" y="9326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 (horas–dias)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82896" y="1298448"/>
            <a:ext cx="3950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de chuva a montante + LSTM. Por quê: out/2024 a 73% foi pico de qualidade da bruta, não média. O turbidímetro continua soberano; o modelo avisa o pico.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5760" y="2697480"/>
            <a:ext cx="4206240" cy="1737360"/>
          </a:xfrm>
          <a:prstGeom prst="rect">
            <a:avLst/>
          </a:prstGeom>
          <a:solidFill>
            <a:srgbClr val="F5F6F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82549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" y="2807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 (horas)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93776" y="3172968"/>
            <a:ext cx="3950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urbano + R físico nas elevatórias. Por quê: chuva forte sobrecarrega esgoto no mesmo objeto geográfico do alagamento municipal.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54880" y="2697480"/>
            <a:ext cx="4206240" cy="1737360"/>
          </a:xfrm>
          <a:prstGeom prst="rect">
            <a:avLst/>
          </a:prstGeom>
          <a:solidFill>
            <a:srgbClr val="F5F6F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82549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30368" y="2807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Ativo (anos)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882896" y="3172968"/>
            <a:ext cx="3950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 + v do ativo. Por quê: a adutora de Marapicu (fev/2026, 50%) não tem a mesma v de um reservatório de bairro. p igual, prejuízo diferente.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ISSO CHEGA — PARTNER API E FONTES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206240" cy="17373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932688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Já no ClimateWise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1298448"/>
            <a:ext cx="3877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(arquivo e forecast), NOAA CPC (ONI/RONI), CEMADEN, INMET. LSTM, GEV, HMM, KDE, gatilho. Envelope {data, meta} com fresh | stale | unavailable.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06240" cy="17373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932688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acoplar (públicos)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1298448"/>
            <a:ext cx="3877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Rio 15 min · ANA SAR · SIGA-Ceivap · SPI/INMET · SPEI/ALARMES · relatórios Guandu / SISÁGUA (Portaria 888).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4206240" cy="17373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807208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 de honra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352" y="3172968"/>
            <a:ext cx="3877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upstream falha, status unavailable. Não se inventa milímetro, uT nem volume útil para gabinete ou sala de situação.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697480"/>
            <a:ext cx="4206240" cy="1737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807208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não somos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19472" y="3172968"/>
            <a:ext cx="3877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somos SCADA, hidrólogo da LIGHT nem o 199. Alimentamos a decisão com o motor certo para cada pergunta.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FONTES PÚBLICAS (AGO/2026)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490118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 e motores matemáticos  ·  Agosto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CEDAE — Relatório anual Guandu 2025: 1,805 bi m³ no Estado; 1,299 bi m³ no Guandu.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CEIVAP / INEA — ETA Guandu ~43 m³/s (outorga 45 m³/s); transposição LIGHT.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SAR / imprensa jan 2026 — equivalente Paraíba em 33,3% do VU (65,5% em jan/2025).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ANA/IGAM/DAEE/INEA 1.382/2015 — Santa Cecília 250 / 190 m³/s.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GM/MS 888/2021 — turbidez 0,5 uT (filtração) e 5 uT (rede).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Rio / GEO-RIO — classes mm/h; A2C2 40 mm/1 h ou 125 mm/24 h.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CEMADEN — alerta à Defesa Civil; CEMADEN-RJ 70 PCDs / 13 municípios.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Anatel 357/2004 — telefone 199. SMS municipal: CEP para 40199.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INMET (SPI) · ALARMES/UFRJ (SPEI) · WMO — SPI como índice padrão de seca.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Usar o motor da pergunta certa.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Falar a língua oficial do dado.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51760" cy="2148840"/>
          </a:xfrm>
          <a:prstGeom prst="rect">
            <a:avLst/>
          </a:prstGeom>
          <a:solidFill>
            <a:srgbClr val="152E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84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dias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 municipal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6148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= A2C2 (40 mm/1 h, 125 mm/24 h) + LSTM + cluster KDE. Glossário no painel.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651760" cy="2148840"/>
          </a:xfrm>
          <a:prstGeom prst="rect">
            <a:avLst/>
          </a:prstGeom>
          <a:solidFill>
            <a:srgbClr val="152E4A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084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dias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359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Sinal CEDAE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76148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SAR/ANA + SPI/INMET no manancial; POT como aviso de tratabilidade da ETA.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965960"/>
            <a:ext cx="2651760" cy="2148840"/>
          </a:xfrm>
          <a:prstGeom prst="rect">
            <a:avLst/>
          </a:prstGeom>
          <a:solidFill>
            <a:srgbClr val="152E4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084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dias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359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Acoplamento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76148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Chuva–vazão com LIGHT/ANA. SPEI calibrado. SOP COR 1–5. A matemática-base permanece.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97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ClimateWise  ·  glossário, motor certo, envelope honesto  ·  agosto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ClimateWise para município e CEDAE — glossário e motores matemáticos</dc:title>
  <dc:subject>Siglas, nomenclatura e por que cada módulo matemático serve à prefeitura e ao saneamento</dc:subject>
  <dc:creator>ClimateWise</dc:creator>
  <cp:lastModifiedBy>ClimateWise</cp:lastModifiedBy>
  <cp:revision>1</cp:revision>
  <dcterms:created xsi:type="dcterms:W3CDTF">2026-08-28T04:11:11Z</dcterms:created>
  <dcterms:modified xsi:type="dcterms:W3CDTF">2026-08-28T04:11:11Z</dcterms:modified>
</cp:coreProperties>
</file>